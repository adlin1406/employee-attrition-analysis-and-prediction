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1114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Oval 9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0" y="2226503"/>
            <a:ext cx="5917679" cy="2550877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0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98080" y="1828800"/>
            <a:ext cx="990599" cy="22865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08" y="3264408"/>
            <a:ext cx="3859795" cy="228660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915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970" y="927098"/>
            <a:ext cx="6343672" cy="70986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7796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7534" y="2257588"/>
            <a:ext cx="3090672" cy="3020344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8"/>
            <a:ext cx="3082516" cy="302034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870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200"/>
            <a:ext cx="3636980" cy="3530603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1" y="2489203"/>
            <a:ext cx="3636980" cy="3530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902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9918" y="2489200"/>
            <a:ext cx="3633502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40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663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5835"/>
            <a:ext cx="3636980" cy="277396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93359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6630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86779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2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90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7800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1" y="3086845"/>
            <a:ext cx="2712589" cy="2933701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655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381390"/>
            <a:ext cx="2987089" cy="157480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086100"/>
            <a:ext cx="2987089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0992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6" name="Rectangle 15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4961454"/>
            <a:ext cx="642200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5528192"/>
            <a:ext cx="6422004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33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2005" cy="1692720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7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8793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10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4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3" name="TextBox 22"/>
          <p:cNvSpPr txBox="1"/>
          <p:nvPr/>
        </p:nvSpPr>
        <p:spPr bwMode="gray">
          <a:xfrm>
            <a:off x="647430" y="651690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 bwMode="gray">
          <a:xfrm>
            <a:off x="7069418" y="2900292"/>
            <a:ext cx="6190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60" y="927099"/>
            <a:ext cx="6160385" cy="2882179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8" y="3809278"/>
            <a:ext cx="5646143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6"/>
            <a:ext cx="6343673" cy="101061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3456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2057400"/>
            <a:ext cx="6422005" cy="20955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793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423593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89200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4"/>
            <a:ext cx="2313432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5614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1" y="3147164"/>
            <a:ext cx="2318918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2489200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0935" y="3147164"/>
            <a:ext cx="2316625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794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927100"/>
            <a:ext cx="6345260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4179596"/>
            <a:ext cx="231343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2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9055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8"/>
          </p:nvPr>
        </p:nvSpPr>
        <p:spPr>
          <a:xfrm>
            <a:off x="866439" y="4837558"/>
            <a:ext cx="231343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11125" y="4179595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8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553189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11125" y="484820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58642" y="4179596"/>
            <a:ext cx="2318918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9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108641" y="2489200"/>
            <a:ext cx="2015144" cy="1447342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58642" y="4837558"/>
            <a:ext cx="2318918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40" name="Straight Connector 39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63116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343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88" y="0"/>
            <a:ext cx="9120420" cy="6860798"/>
            <a:chOff x="-1588" y="0"/>
            <a:chExt cx="9120420" cy="6860798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</p:grpSp>
      <p:sp>
        <p:nvSpPr>
          <p:cNvPr id="17" name="Rectangle 16"/>
          <p:cNvSpPr/>
          <p:nvPr/>
        </p:nvSpPr>
        <p:spPr>
          <a:xfrm>
            <a:off x="414867" y="402165"/>
            <a:ext cx="4610565" cy="605367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Freeform 9"/>
          <p:cNvSpPr/>
          <p:nvPr/>
        </p:nvSpPr>
        <p:spPr bwMode="gray">
          <a:xfrm rot="5400000">
            <a:off x="1299309" y="1765596"/>
            <a:ext cx="5995993" cy="3326809"/>
          </a:xfrm>
          <a:custGeom>
            <a:avLst/>
            <a:gdLst/>
            <a:ahLst/>
            <a:cxnLst/>
            <a:rect l="0" t="0" r="r" b="b"/>
            <a:pathLst>
              <a:path w="4960" h="2752">
                <a:moveTo>
                  <a:pt x="0" y="0"/>
                </a:moveTo>
                <a:lnTo>
                  <a:pt x="0" y="324"/>
                </a:lnTo>
                <a:lnTo>
                  <a:pt x="0" y="1992"/>
                </a:lnTo>
                <a:lnTo>
                  <a:pt x="0" y="2752"/>
                </a:lnTo>
                <a:lnTo>
                  <a:pt x="4960" y="2752"/>
                </a:lnTo>
                <a:lnTo>
                  <a:pt x="4960" y="1992"/>
                </a:lnTo>
                <a:lnTo>
                  <a:pt x="4960" y="324"/>
                </a:lnTo>
                <a:lnTo>
                  <a:pt x="4960" y="0"/>
                </a:lnTo>
                <a:lnTo>
                  <a:pt x="4960" y="0"/>
                </a:lnTo>
                <a:lnTo>
                  <a:pt x="4734" y="34"/>
                </a:lnTo>
                <a:lnTo>
                  <a:pt x="4510" y="64"/>
                </a:lnTo>
                <a:lnTo>
                  <a:pt x="4284" y="90"/>
                </a:lnTo>
                <a:lnTo>
                  <a:pt x="4060" y="114"/>
                </a:lnTo>
                <a:lnTo>
                  <a:pt x="3836" y="132"/>
                </a:lnTo>
                <a:lnTo>
                  <a:pt x="3614" y="146"/>
                </a:lnTo>
                <a:lnTo>
                  <a:pt x="3392" y="158"/>
                </a:lnTo>
                <a:lnTo>
                  <a:pt x="3174" y="166"/>
                </a:lnTo>
                <a:lnTo>
                  <a:pt x="2960" y="172"/>
                </a:lnTo>
                <a:lnTo>
                  <a:pt x="2748" y="174"/>
                </a:lnTo>
                <a:lnTo>
                  <a:pt x="2542" y="174"/>
                </a:lnTo>
                <a:lnTo>
                  <a:pt x="2338" y="174"/>
                </a:lnTo>
                <a:lnTo>
                  <a:pt x="2140" y="170"/>
                </a:lnTo>
                <a:lnTo>
                  <a:pt x="1948" y="164"/>
                </a:lnTo>
                <a:lnTo>
                  <a:pt x="1762" y="156"/>
                </a:lnTo>
                <a:lnTo>
                  <a:pt x="1582" y="148"/>
                </a:lnTo>
                <a:lnTo>
                  <a:pt x="1410" y="138"/>
                </a:lnTo>
                <a:lnTo>
                  <a:pt x="1244" y="128"/>
                </a:lnTo>
                <a:lnTo>
                  <a:pt x="1088" y="116"/>
                </a:lnTo>
                <a:lnTo>
                  <a:pt x="938" y="104"/>
                </a:lnTo>
                <a:lnTo>
                  <a:pt x="668" y="78"/>
                </a:lnTo>
                <a:lnTo>
                  <a:pt x="438" y="54"/>
                </a:lnTo>
                <a:lnTo>
                  <a:pt x="254" y="34"/>
                </a:lnTo>
                <a:lnTo>
                  <a:pt x="116" y="1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  <p:sp>
        <p:nvSpPr>
          <p:cNvPr id="18" name="Freeform 5"/>
          <p:cNvSpPr>
            <a:spLocks noEditPoints="1"/>
          </p:cNvSpPr>
          <p:nvPr/>
        </p:nvSpPr>
        <p:spPr bwMode="gray">
          <a:xfrm>
            <a:off x="0" y="0"/>
            <a:ext cx="9144000" cy="6858000"/>
          </a:xfrm>
          <a:custGeom>
            <a:avLst/>
            <a:gdLst/>
            <a:ahLst/>
            <a:cxnLst/>
            <a:rect l="0" t="0" r="r" b="b"/>
            <a:pathLst>
              <a:path w="5760" h="4320">
                <a:moveTo>
                  <a:pt x="0" y="0"/>
                </a:moveTo>
                <a:lnTo>
                  <a:pt x="0" y="4320"/>
                </a:lnTo>
                <a:lnTo>
                  <a:pt x="5760" y="4320"/>
                </a:lnTo>
                <a:lnTo>
                  <a:pt x="5760" y="0"/>
                </a:lnTo>
                <a:lnTo>
                  <a:pt x="0" y="0"/>
                </a:lnTo>
                <a:close/>
                <a:moveTo>
                  <a:pt x="5444" y="4004"/>
                </a:moveTo>
                <a:lnTo>
                  <a:pt x="324" y="4004"/>
                </a:lnTo>
                <a:lnTo>
                  <a:pt x="324" y="324"/>
                </a:lnTo>
                <a:lnTo>
                  <a:pt x="5444" y="324"/>
                </a:lnTo>
                <a:lnTo>
                  <a:pt x="5444" y="400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74928" y="1447799"/>
            <a:ext cx="1113516" cy="4572001"/>
          </a:xfrm>
        </p:spPr>
        <p:txBody>
          <a:bodyPr vert="eaVert" anchor="ctr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738" y="1447799"/>
            <a:ext cx="4416936" cy="4572001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/>
          <a:lstStyle>
            <a:lvl1pPr algn="ctr"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8136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-1588" y="0"/>
            <a:ext cx="9145588" cy="6860798"/>
            <a:chOff x="-1588" y="0"/>
            <a:chExt cx="9145588" cy="6860798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8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-1588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25" name="Freeform 24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5260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4382" y="2489200"/>
            <a:ext cx="6345260" cy="353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74443" y="6365498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7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8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678616" y="295730"/>
            <a:ext cx="791308" cy="767687"/>
          </a:xfrm>
          <a:prstGeom prst="rect">
            <a:avLst/>
          </a:prstGeom>
        </p:spPr>
        <p:txBody>
          <a:bodyPr anchor="b"/>
          <a:lstStyle>
            <a:lvl1pPr algn="ctr">
              <a:defRPr sz="280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742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Employee Attrition Analysis and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t>Domain: HR Analytics</a:t>
            </a:r>
          </a:p>
          <a:p>
            <a:r>
              <a:t>Machine Learning | Streamlit Dashboard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Problem Statement &amp; Business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2241494"/>
            <a:ext cx="8229600" cy="4304963"/>
          </a:xfrm>
        </p:spPr>
        <p:txBody>
          <a:bodyPr/>
          <a:lstStyle/>
          <a:p>
            <a:endParaRPr dirty="0"/>
          </a:p>
          <a:p>
            <a:pPr lvl="1"/>
            <a:r>
              <a:rPr dirty="0"/>
              <a:t>Employee turnover increases recruitment and training costs.</a:t>
            </a:r>
          </a:p>
          <a:p>
            <a:pPr lvl="1"/>
            <a:r>
              <a:rPr dirty="0"/>
              <a:t>Need to identify at-risk employees proactively.</a:t>
            </a:r>
          </a:p>
          <a:p>
            <a:pPr lvl="1"/>
            <a:r>
              <a:rPr dirty="0"/>
              <a:t>Employee Retention: Targeted retention strategies.</a:t>
            </a:r>
          </a:p>
          <a:p>
            <a:pPr lvl="1"/>
            <a:r>
              <a:rPr dirty="0"/>
              <a:t>Cost Optimization: Reduce hiring &amp; onboarding expenses.</a:t>
            </a:r>
          </a:p>
          <a:p>
            <a:pPr lvl="1"/>
            <a:r>
              <a:rPr dirty="0"/>
              <a:t>Workforce Planning: Data-driven HR decision making.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Skills &amp; Technical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/>
            <a:r>
              <a:rPr dirty="0"/>
              <a:t>Data Preprocessing and Cleaning</a:t>
            </a:r>
          </a:p>
          <a:p>
            <a:pPr lvl="1"/>
            <a:r>
              <a:rPr dirty="0"/>
              <a:t>Exploratory Data Analysis (EDA)</a:t>
            </a:r>
          </a:p>
          <a:p>
            <a:pPr lvl="1"/>
            <a:r>
              <a:rPr dirty="0"/>
              <a:t>Feature Engineering</a:t>
            </a:r>
          </a:p>
          <a:p>
            <a:pPr lvl="1"/>
            <a:r>
              <a:rPr dirty="0"/>
              <a:t>Machine Learning Model Development</a:t>
            </a:r>
          </a:p>
          <a:p>
            <a:pPr lvl="1"/>
            <a:r>
              <a:rPr dirty="0"/>
              <a:t>Model Evaluation (Accuracy, F1, AUC-ROC)</a:t>
            </a:r>
          </a:p>
          <a:p>
            <a:pPr lvl="1"/>
            <a:r>
              <a:rPr dirty="0" err="1"/>
              <a:t>Streamlit</a:t>
            </a:r>
            <a:r>
              <a:rPr dirty="0"/>
              <a:t> Dashboard Development</a:t>
            </a:r>
          </a:p>
          <a:p>
            <a:pPr lvl="1"/>
            <a:r>
              <a:rPr dirty="0"/>
              <a:t>Tools: Python, </a:t>
            </a:r>
            <a:r>
              <a:rPr dirty="0" err="1"/>
              <a:t>Scikit</a:t>
            </a:r>
            <a:r>
              <a:rPr dirty="0"/>
              <a:t>-learn, Pandas, </a:t>
            </a:r>
            <a:r>
              <a:rPr dirty="0" err="1"/>
              <a:t>Matplotlib</a:t>
            </a:r>
            <a:r>
              <a:rPr dirty="0"/>
              <a:t>, </a:t>
            </a:r>
            <a:r>
              <a:rPr dirty="0" err="1"/>
              <a:t>Streamlit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Approach &amp;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dirty="0"/>
          </a:p>
          <a:p>
            <a:pPr lvl="1"/>
            <a:r>
              <a:rPr dirty="0"/>
              <a:t>Data Collection &amp; Cleaning</a:t>
            </a:r>
          </a:p>
          <a:p>
            <a:pPr lvl="1"/>
            <a:r>
              <a:rPr dirty="0"/>
              <a:t>Handling Missing Values &amp; Encoding Categorical Variables</a:t>
            </a:r>
          </a:p>
          <a:p>
            <a:pPr lvl="1"/>
            <a:r>
              <a:rPr dirty="0"/>
              <a:t>EDA to identify key attrition drivers</a:t>
            </a:r>
          </a:p>
          <a:p>
            <a:pPr lvl="1"/>
            <a:r>
              <a:rPr dirty="0"/>
              <a:t>Feature Engineering (Tenure, Engagement </a:t>
            </a:r>
            <a:r>
              <a:rPr dirty="0" smtClean="0"/>
              <a:t>Score</a:t>
            </a:r>
            <a:r>
              <a:rPr lang="en-IN" smtClean="0"/>
              <a:t>)</a:t>
            </a:r>
            <a:endParaRPr dirty="0"/>
          </a:p>
          <a:p>
            <a:pPr lvl="1"/>
            <a:r>
              <a:rPr dirty="0"/>
              <a:t>Model Building using Random Forest</a:t>
            </a:r>
          </a:p>
          <a:p>
            <a:pPr lvl="1"/>
            <a:r>
              <a:rPr dirty="0"/>
              <a:t>Model Evaluation using Precision, Recall, F1, AUC-ROC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Accuracy – Overall prediction correctness</a:t>
            </a:r>
          </a:p>
          <a:p>
            <a:pPr lvl="1"/>
            <a:r>
              <a:t>Precision – Correct positive predictions</a:t>
            </a:r>
          </a:p>
          <a:p>
            <a:pPr lvl="1"/>
            <a:r>
              <a:t>Recall – Identifying actual attrition cases</a:t>
            </a:r>
          </a:p>
          <a:p>
            <a:pPr lvl="1"/>
            <a:r>
              <a:t>F1-Score – Balance between Precision &amp; Recall</a:t>
            </a:r>
          </a:p>
          <a:p>
            <a:pPr lvl="1"/>
            <a:r>
              <a:t>AUC-ROC – Model discrimination capability</a:t>
            </a:r>
          </a:p>
          <a:p>
            <a:pPr lvl="1"/>
            <a:r>
              <a:t>Confusion Matrix – TP, TN, FP, FN analysis</a:t>
            </a:r>
          </a:p>
          <a:p>
            <a:pPr lvl="1"/>
            <a:r>
              <a:t>Training Time &amp; Computational Efficiency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&amp; Business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/>
          </a:p>
          <a:p>
            <a:pPr lvl="1"/>
            <a:r>
              <a:t>Achieved high predictive performance (~85%+ accuracy)</a:t>
            </a:r>
          </a:p>
          <a:p>
            <a:pPr lvl="1"/>
            <a:r>
              <a:t>Identified key drivers: Job Satisfaction, Income, Overtime</a:t>
            </a:r>
          </a:p>
          <a:p>
            <a:pPr lvl="1"/>
            <a:r>
              <a:t>Generated High-Risk Employee List (&gt;70% probability)</a:t>
            </a:r>
          </a:p>
          <a:p>
            <a:pPr lvl="1"/>
            <a:r>
              <a:t>Reduced attrition through proactive strategies</a:t>
            </a:r>
          </a:p>
          <a:p>
            <a:pPr lvl="1"/>
            <a:r>
              <a:t>Cost savings in recruitment &amp; training</a:t>
            </a:r>
          </a:p>
          <a:p>
            <a:pPr lvl="1"/>
            <a:r>
              <a:t>Interactive Streamlit Dashboard for HR Teams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 lvl="1"/>
            <a:r>
              <a:t>35 Features including Age, Department, Income, JobSatisfaction</a:t>
            </a:r>
          </a:p>
          <a:p>
            <a:pPr lvl="1"/>
            <a:r>
              <a:t>Target Variable: Attrition (0 = Stayed, 1 = Left)</a:t>
            </a:r>
          </a:p>
          <a:p>
            <a:pPr lvl="1"/>
            <a:r>
              <a:t>Includes Demographics, Compensation, Performance Metrics</a:t>
            </a:r>
          </a:p>
          <a:p>
            <a:pPr lvl="1"/>
            <a:r>
              <a:t>Supports Multiple Prediction Use Cases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Deliverables &amp;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 lvl="1"/>
            <a:r>
              <a:rPr dirty="0"/>
              <a:t>Source Code (Python &amp; </a:t>
            </a:r>
            <a:r>
              <a:rPr dirty="0" err="1"/>
              <a:t>Streamlit</a:t>
            </a:r>
            <a:r>
              <a:rPr dirty="0"/>
              <a:t>)</a:t>
            </a:r>
          </a:p>
          <a:p>
            <a:pPr lvl="1"/>
            <a:r>
              <a:rPr dirty="0" smtClean="0"/>
              <a:t>Cleaned </a:t>
            </a:r>
            <a:r>
              <a:rPr dirty="0"/>
              <a:t>Dataset</a:t>
            </a:r>
          </a:p>
          <a:p>
            <a:pPr lvl="1"/>
            <a:r>
              <a:rPr dirty="0"/>
              <a:t>Documentation &amp; README</a:t>
            </a:r>
          </a:p>
          <a:p>
            <a:pPr lvl="1"/>
            <a:r>
              <a:rPr dirty="0"/>
              <a:t>Deployable </a:t>
            </a:r>
            <a:r>
              <a:rPr dirty="0" err="1"/>
              <a:t>Streamlit</a:t>
            </a:r>
            <a:r>
              <a:rPr dirty="0"/>
              <a:t> Web Application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11</TotalTime>
  <Words>298</Words>
  <Application>Microsoft Office PowerPoint</Application>
  <PresentationFormat>On-screen Show (4:3)</PresentationFormat>
  <Paragraphs>56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Century Gothic</vt:lpstr>
      <vt:lpstr>Wingdings 3</vt:lpstr>
      <vt:lpstr>Ion Boardroom</vt:lpstr>
      <vt:lpstr>Employee Attrition Analysis and Prediction</vt:lpstr>
      <vt:lpstr>Problem Statement &amp; Business Use Cases</vt:lpstr>
      <vt:lpstr>Skills &amp; Technical Stack</vt:lpstr>
      <vt:lpstr>Approach &amp; Methodology</vt:lpstr>
      <vt:lpstr>Model Evaluation Metrics</vt:lpstr>
      <vt:lpstr>Results &amp; Business Impact</vt:lpstr>
      <vt:lpstr>Dataset Overview</vt:lpstr>
      <vt:lpstr>Project Deliverables &amp; Deployment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Employee Attrition Analysis and Prediction</dc:title>
  <dc:subject/>
  <dc:creator/>
  <cp:keywords/>
  <dc:description>generated using python-pptx</dc:description>
  <cp:lastModifiedBy>Adlin Prince</cp:lastModifiedBy>
  <cp:revision>4</cp:revision>
  <dcterms:created xsi:type="dcterms:W3CDTF">2013-01-27T09:14:16Z</dcterms:created>
  <dcterms:modified xsi:type="dcterms:W3CDTF">2026-03-01T08:57:03Z</dcterms:modified>
  <cp:category/>
</cp:coreProperties>
</file>